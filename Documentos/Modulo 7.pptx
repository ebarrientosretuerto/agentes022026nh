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4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2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28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28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28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28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28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28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28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28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21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9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0.png"/><Relationship Id="rId3" Type="http://schemas.openxmlformats.org/officeDocument/2006/relationships/image" Target="../media/image28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3" Type="http://schemas.openxmlformats.org/officeDocument/2006/relationships/image" Target="../media/image28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0" Type="http://schemas.openxmlformats.org/officeDocument/2006/relationships/image" Target="../media/image177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28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3" Type="http://schemas.openxmlformats.org/officeDocument/2006/relationships/image" Target="../media/image28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0" Type="http://schemas.openxmlformats.org/officeDocument/2006/relationships/image" Target="../media/image198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8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8.png"/><Relationship Id="rId7" Type="http://schemas.openxmlformats.org/officeDocument/2006/relationships/image" Target="../media/image215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4.png"/><Relationship Id="rId11" Type="http://schemas.openxmlformats.org/officeDocument/2006/relationships/image" Target="../media/image219.png"/><Relationship Id="rId5" Type="http://schemas.openxmlformats.org/officeDocument/2006/relationships/image" Target="../media/image213.png"/><Relationship Id="rId10" Type="http://schemas.openxmlformats.org/officeDocument/2006/relationships/image" Target="../media/image218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8.png"/><Relationship Id="rId7" Type="http://schemas.openxmlformats.org/officeDocument/2006/relationships/image" Target="../media/image2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3.png"/><Relationship Id="rId11" Type="http://schemas.openxmlformats.org/officeDocument/2006/relationships/image" Target="../media/image228.png"/><Relationship Id="rId5" Type="http://schemas.openxmlformats.org/officeDocument/2006/relationships/image" Target="../media/image222.png"/><Relationship Id="rId10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3" Type="http://schemas.openxmlformats.org/officeDocument/2006/relationships/image" Target="../media/image28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10" Type="http://schemas.openxmlformats.org/officeDocument/2006/relationships/image" Target="../media/image235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1.png"/><Relationship Id="rId18" Type="http://schemas.openxmlformats.org/officeDocument/2006/relationships/image" Target="../media/image256.png"/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12" Type="http://schemas.openxmlformats.org/officeDocument/2006/relationships/image" Target="../media/image250.png"/><Relationship Id="rId17" Type="http://schemas.openxmlformats.org/officeDocument/2006/relationships/image" Target="../media/image25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4.png"/><Relationship Id="rId11" Type="http://schemas.openxmlformats.org/officeDocument/2006/relationships/image" Target="../media/image249.png"/><Relationship Id="rId5" Type="http://schemas.openxmlformats.org/officeDocument/2006/relationships/image" Target="../media/image243.png"/><Relationship Id="rId15" Type="http://schemas.openxmlformats.org/officeDocument/2006/relationships/image" Target="../media/image253.png"/><Relationship Id="rId10" Type="http://schemas.openxmlformats.org/officeDocument/2006/relationships/image" Target="../media/image248.png"/><Relationship Id="rId19" Type="http://schemas.openxmlformats.org/officeDocument/2006/relationships/image" Target="../media/image257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Relationship Id="rId14" Type="http://schemas.openxmlformats.org/officeDocument/2006/relationships/image" Target="../media/image2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13" Type="http://schemas.openxmlformats.org/officeDocument/2006/relationships/image" Target="../media/image267.png"/><Relationship Id="rId18" Type="http://schemas.openxmlformats.org/officeDocument/2006/relationships/image" Target="../media/image272.png"/><Relationship Id="rId3" Type="http://schemas.openxmlformats.org/officeDocument/2006/relationships/image" Target="../media/image28.png"/><Relationship Id="rId7" Type="http://schemas.openxmlformats.org/officeDocument/2006/relationships/image" Target="../media/image261.png"/><Relationship Id="rId12" Type="http://schemas.openxmlformats.org/officeDocument/2006/relationships/image" Target="../media/image266.png"/><Relationship Id="rId17" Type="http://schemas.openxmlformats.org/officeDocument/2006/relationships/image" Target="../media/image271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0.png"/><Relationship Id="rId11" Type="http://schemas.openxmlformats.org/officeDocument/2006/relationships/image" Target="../media/image265.png"/><Relationship Id="rId5" Type="http://schemas.openxmlformats.org/officeDocument/2006/relationships/image" Target="../media/image259.png"/><Relationship Id="rId15" Type="http://schemas.openxmlformats.org/officeDocument/2006/relationships/image" Target="../media/image269.png"/><Relationship Id="rId10" Type="http://schemas.openxmlformats.org/officeDocument/2006/relationships/image" Target="../media/image264.png"/><Relationship Id="rId19" Type="http://schemas.openxmlformats.org/officeDocument/2006/relationships/image" Target="../media/image273.png"/><Relationship Id="rId4" Type="http://schemas.openxmlformats.org/officeDocument/2006/relationships/image" Target="../media/image258.png"/><Relationship Id="rId9" Type="http://schemas.openxmlformats.org/officeDocument/2006/relationships/image" Target="../media/image263.png"/><Relationship Id="rId14" Type="http://schemas.openxmlformats.org/officeDocument/2006/relationships/image" Target="../media/image26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13" Type="http://schemas.openxmlformats.org/officeDocument/2006/relationships/image" Target="../media/image284.png"/><Relationship Id="rId3" Type="http://schemas.openxmlformats.org/officeDocument/2006/relationships/image" Target="../media/image274.png"/><Relationship Id="rId7" Type="http://schemas.openxmlformats.org/officeDocument/2006/relationships/image" Target="../media/image278.png"/><Relationship Id="rId12" Type="http://schemas.openxmlformats.org/officeDocument/2006/relationships/image" Target="../media/image2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7.png"/><Relationship Id="rId11" Type="http://schemas.openxmlformats.org/officeDocument/2006/relationships/image" Target="../media/image282.png"/><Relationship Id="rId5" Type="http://schemas.openxmlformats.org/officeDocument/2006/relationships/image" Target="../media/image276.png"/><Relationship Id="rId10" Type="http://schemas.openxmlformats.org/officeDocument/2006/relationships/image" Target="../media/image281.png"/><Relationship Id="rId4" Type="http://schemas.openxmlformats.org/officeDocument/2006/relationships/image" Target="../media/image275.png"/><Relationship Id="rId9" Type="http://schemas.openxmlformats.org/officeDocument/2006/relationships/image" Target="../media/image280.png"/><Relationship Id="rId14" Type="http://schemas.openxmlformats.org/officeDocument/2006/relationships/image" Target="../media/image28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295.png"/><Relationship Id="rId18" Type="http://schemas.openxmlformats.org/officeDocument/2006/relationships/image" Target="../media/image300.png"/><Relationship Id="rId3" Type="http://schemas.openxmlformats.org/officeDocument/2006/relationships/image" Target="../media/image28.png"/><Relationship Id="rId7" Type="http://schemas.openxmlformats.org/officeDocument/2006/relationships/image" Target="../media/image289.png"/><Relationship Id="rId12" Type="http://schemas.openxmlformats.org/officeDocument/2006/relationships/image" Target="../media/image294.png"/><Relationship Id="rId17" Type="http://schemas.openxmlformats.org/officeDocument/2006/relationships/image" Target="../media/image29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8.png"/><Relationship Id="rId11" Type="http://schemas.openxmlformats.org/officeDocument/2006/relationships/image" Target="../media/image293.png"/><Relationship Id="rId5" Type="http://schemas.openxmlformats.org/officeDocument/2006/relationships/image" Target="../media/image287.png"/><Relationship Id="rId15" Type="http://schemas.openxmlformats.org/officeDocument/2006/relationships/image" Target="../media/image297.png"/><Relationship Id="rId10" Type="http://schemas.openxmlformats.org/officeDocument/2006/relationships/image" Target="../media/image292.png"/><Relationship Id="rId4" Type="http://schemas.openxmlformats.org/officeDocument/2006/relationships/image" Target="../media/image286.png"/><Relationship Id="rId9" Type="http://schemas.openxmlformats.org/officeDocument/2006/relationships/image" Target="../media/image291.png"/><Relationship Id="rId14" Type="http://schemas.openxmlformats.org/officeDocument/2006/relationships/image" Target="../media/image2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83159"/>
            <a:ext cx="76200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41341"/>
            <a:ext cx="4343400" cy="133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1287959"/>
            <a:ext cx="4343400" cy="17600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.NET y
Microsoft Foundry</a:t>
            </a:r>
            <a:endParaRPr lang="en-US" sz="4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571500" y="3238500"/>
            <a:ext cx="434340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Construyendo Agentes de IA Avanzados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762000" y="4541341"/>
            <a:ext cx="43205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6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 CORTA Y LARGA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762000" y="4874716"/>
            <a:ext cx="51435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6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 MCP + AGENTES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762000" y="5208091"/>
            <a:ext cx="45262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6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PERSISTENCIA DE ESTADO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62000" y="5541466"/>
            <a:ext cx="53492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6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OPTIMIZACIÓN DE RESPUESTAS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571500" y="6276975"/>
            <a:ext cx="59740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Report Generate Date: 2026-02-18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3" y="906379"/>
            <a:ext cx="1026695" cy="320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63" y="2822909"/>
            <a:ext cx="3572001" cy="233412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37" y="3079583"/>
            <a:ext cx="385011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937" y="2822909"/>
            <a:ext cx="3572000" cy="233412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6611" y="3079583"/>
            <a:ext cx="425116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611" y="2822909"/>
            <a:ext cx="3572125" cy="23341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5285" y="3079583"/>
            <a:ext cx="344906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263" y="5602705"/>
            <a:ext cx="11229473" cy="93445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768" y="5795211"/>
            <a:ext cx="489284" cy="54944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105" y="5923547"/>
            <a:ext cx="232611" cy="256674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81263" y="320842"/>
            <a:ext cx="28666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Introducción al Ecosistema Microsoft Foundry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81263" y="1323474"/>
            <a:ext cx="8213558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Microsoft Foundry es una plataforma integral diseñada para la </a:t>
            </a: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creación, despliegue y gestión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aplicaciones y agentes de IA a escala empresarial, ofreciendo un entorno unificado y robusto.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37937" y="3616993"/>
            <a:ext cx="4886325" cy="2566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Enfoque Modular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737937" y="4002004"/>
            <a:ext cx="3058653" cy="8983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Arquitectura basada en componentes intercambiables que permiten adaptar la solución a necesidades específicas de negocio.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4566611" y="3616993"/>
            <a:ext cx="4234815" cy="2566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Interoperable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566611" y="4002004"/>
            <a:ext cx="3058653" cy="8983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 nativa para conectar modelos de lenguaje (LLMs), herramientas externas y diversas fuentes de datos empresariales.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8395285" y="3616993"/>
            <a:ext cx="5863590" cy="2566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Seguro y Confiable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8395285" y="4002004"/>
            <a:ext cx="3058779" cy="8983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Garantiza la gobernanza de datos y el cumplimiento de estándares empresariales en todo el ciclo de vida del agente.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1355558" y="5845342"/>
            <a:ext cx="9780169" cy="224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Escala Empresarial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1355558" y="6069932"/>
            <a:ext cx="31272480" cy="2245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Optimizado para manejar cargas de trabajo críticas, desde la orquestación simple hasta flujos de trabajo multi-agente complejos.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485900"/>
            <a:ext cx="2438400" cy="723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85925"/>
            <a:ext cx="3238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2438400"/>
            <a:ext cx="36576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125" y="2676525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76700"/>
            <a:ext cx="3530501" cy="118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28625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0601" y="4076700"/>
            <a:ext cx="3530650" cy="1181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101" y="4286250"/>
            <a:ext cx="20002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850" y="4076700"/>
            <a:ext cx="3530501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0350" y="428625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867400"/>
            <a:ext cx="110490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61531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615315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381000"/>
            <a:ext cx="208483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Arquitectura General de una Aplicación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71500" y="914400"/>
            <a:ext cx="1440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Estructura modular y flujo de orquestación en Microsoft Foundry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505450" y="1638300"/>
            <a:ext cx="3909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Interfaz de Usuario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505450" y="1905000"/>
            <a:ext cx="2743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Punto de interacción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215640" y="3086100"/>
            <a:ext cx="57607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Agent Service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2735580" y="3429000"/>
            <a:ext cx="6720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Orquestador Central: Cerebro y Coordinador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1104900" y="4286250"/>
            <a:ext cx="2880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Modelos (LLMs)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762000" y="4686300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Comprensión de lenguaje natural y razonamiento (GPT, Claude).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4835426" y="428625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IQ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9"/>
          <p:cNvSpPr/>
          <p:nvPr/>
        </p:nvSpPr>
        <p:spPr>
          <a:xfrm>
            <a:off x="4521101" y="4686300"/>
            <a:ext cx="3149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Almacén de conocimiento empresarial con Azure AI Search.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8623250" y="428625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Herramientas (Tools)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8280350" y="4686300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 con APIs externas y sistemas mediante MCP.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876300" y="60960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</a:t>
            </a:r>
            <a:r>
              <a:rPr lang="en-US" sz="1050" b="1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Agent Service</a:t>
            </a:r>
            <a:r>
              <a:rPr lang="en-US" sz="10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gestiona el estado, las sesiones y la invocación de herramientas de forma transparente para el desarrollador .NET.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6591300" y="60960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integración con </a:t>
            </a:r>
            <a:r>
              <a:rPr lang="en-US" sz="1050" b="1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IQ</a:t>
            </a:r>
            <a:r>
              <a:rPr lang="en-US" sz="10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permite que el agente fundamente sus respuestas en datos reales de la organización (RAG).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19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1" y="1143000"/>
            <a:ext cx="10930677" cy="342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21" y="1801210"/>
            <a:ext cx="5347097" cy="171647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03" y="2037693"/>
            <a:ext cx="472966" cy="4729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579" y="2140908"/>
            <a:ext cx="268014" cy="2665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200" y="1801210"/>
            <a:ext cx="5347097" cy="171647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0683" y="2037693"/>
            <a:ext cx="472966" cy="47296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8925" y="2140908"/>
            <a:ext cx="236483" cy="26653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621" y="3754164"/>
            <a:ext cx="5347097" cy="171647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103" y="3990647"/>
            <a:ext cx="472966" cy="47296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579" y="4093861"/>
            <a:ext cx="268014" cy="26653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4200" y="3754164"/>
            <a:ext cx="5347097" cy="171647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0683" y="3990647"/>
            <a:ext cx="472966" cy="47296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159" y="4093861"/>
            <a:ext cx="268014" cy="26653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621" y="5707117"/>
            <a:ext cx="10930677" cy="75674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5931" y="5959366"/>
            <a:ext cx="228600" cy="252248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30621" y="394138"/>
            <a:ext cx="26517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Rol Central del Foundry Agent Service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748862" y="1143000"/>
            <a:ext cx="1701114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cerebro orquestador de la arquitectura de agentes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497724" y="2037693"/>
            <a:ext cx="56349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del Flujo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497724" y="2459421"/>
            <a:ext cx="4243511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Dirige la secuencia lógica de la conversación, asegurando que el agente responda de manera coherente a través de múltiples turnos.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081304" y="2037693"/>
            <a:ext cx="56349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Control de Estado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7081304" y="2459421"/>
            <a:ext cx="4243511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Mantiene el contexto de la sesión de forma transparente, incluyendo el historial de chat, metadatos y variables del agente.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1497724" y="3990647"/>
            <a:ext cx="86182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Invocación de Herramientas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1497724" y="4412374"/>
            <a:ext cx="4243511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Decide cuándo y qué herramientas externas o APIs llamar para realizar acciones específicas o recuperar datos externos.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7081304" y="3990647"/>
            <a:ext cx="6629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Interacción con LLMs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7081304" y="4412374"/>
            <a:ext cx="4243511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Actúa como puente entre la lógica del agente y los modelos de lenguaje, enviando prompts y procesando las respuestas generadas.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1332186" y="5864773"/>
            <a:ext cx="9913801" cy="4414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Abstrae la complejidad de la infraestructura, permitiendo al desarrollador .NET centrarse en la lógica del negocio.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23" y="417323"/>
            <a:ext cx="9523647" cy="75531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23" y="1840349"/>
            <a:ext cx="3637335" cy="21157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84" y="2049010"/>
            <a:ext cx="417323" cy="41732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493" y="2124324"/>
            <a:ext cx="264304" cy="26669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7230" y="1840349"/>
            <a:ext cx="3637336" cy="21157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5891" y="2049010"/>
            <a:ext cx="417322" cy="41732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2400" y="2124324"/>
            <a:ext cx="264304" cy="26669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7137" y="1840349"/>
            <a:ext cx="3637335" cy="211573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5798" y="2049010"/>
            <a:ext cx="417323" cy="41732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2307" y="2124324"/>
            <a:ext cx="264304" cy="26669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323" y="4485891"/>
            <a:ext cx="11357259" cy="130761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9732" y="4903214"/>
            <a:ext cx="382545" cy="27821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14614" y="4903214"/>
            <a:ext cx="340813" cy="27821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17323" y="417323"/>
            <a:ext cx="30804596" cy="7553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 de Modelos de Lenguaje (LLMs)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17323" y="1283919"/>
            <a:ext cx="23666982" cy="2225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motor de inteligencia detrás de cada interacción en Foundry.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25984" y="2605440"/>
            <a:ext cx="4132330" cy="2225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Comprensión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25984" y="2911477"/>
            <a:ext cx="3220013" cy="8359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Interpretación profunda del lenguaje natural para captar la intención y el sentimiento del usuario con precisión.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485891" y="2605440"/>
            <a:ext cx="4507997" cy="2225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Razonamiento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4485891" y="2911477"/>
            <a:ext cx="3220012" cy="8359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 de lógica avanzada para descomponer tareas complejas, evaluar opciones y planificar acciones.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345798" y="2605440"/>
            <a:ext cx="3756664" cy="2225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Generación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8345798" y="2911477"/>
            <a:ext cx="3220012" cy="8359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Creación de respuestas fluidas, coherentes y fundamentadas en el contexto empresarial específico.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639895" y="4708463"/>
            <a:ext cx="10894325" cy="2225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Ecosistema Abierto y Flexible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9"/>
          <p:cNvSpPr/>
          <p:nvPr/>
        </p:nvSpPr>
        <p:spPr>
          <a:xfrm>
            <a:off x="639895" y="4986678"/>
            <a:ext cx="7274670" cy="584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permite la integración de una amplia variedad de modelos de vanguardia como </a:t>
            </a: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GPT-4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Claude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otros modelos especializados, permitiendo elegir el mejor recurso para cada tarea.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9177726" y="5237072"/>
            <a:ext cx="2410521" cy="1391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5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MULTI-MODEL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0618141" y="5237072"/>
            <a:ext cx="1972244" cy="1391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5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AGNÓSTICO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-11433217" y="6212128"/>
            <a:ext cx="23207799" cy="2285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 Los LLMs actúan como el componente de inteligencia procesado por el Foundry Agent Service.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67" y="990729"/>
            <a:ext cx="673867" cy="4211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67" y="2436077"/>
            <a:ext cx="2225165" cy="28077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67" y="2913400"/>
            <a:ext cx="287797" cy="22462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167" y="3671500"/>
            <a:ext cx="231642" cy="22462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67" y="4429600"/>
            <a:ext cx="231642" cy="22462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340" y="2436077"/>
            <a:ext cx="5534396" cy="357958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0963" y="3109944"/>
            <a:ext cx="5085151" cy="98678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77188" y="3222255"/>
            <a:ext cx="252700" cy="252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0963" y="4321347"/>
            <a:ext cx="5085151" cy="98678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188" y="4433658"/>
            <a:ext cx="252700" cy="252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36810" y="6299954"/>
            <a:ext cx="97505" cy="13337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8431" y="6299954"/>
            <a:ext cx="97505" cy="13337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21167" y="421167"/>
            <a:ext cx="26801050" cy="457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Fundamentos de la Gestión de Memoria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21167" y="1313624"/>
            <a:ext cx="11349569" cy="785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capacidad de </a:t>
            </a:r>
            <a:r>
              <a:rPr lang="en-US" sz="22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recordar</a:t>
            </a: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es el pilar que permite pasar de simples respuestas reactivas a </a:t>
            </a:r>
            <a:r>
              <a:rPr lang="en-US" sz="2250" b="1" dirty="0">
                <a:solidFill>
                  <a:srgbClr val="FFA5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interacciones inteligentes y personalizadas</a:t>
            </a: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421167" y="2436077"/>
            <a:ext cx="7444748" cy="2807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¿Por qué es crucial?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821275" y="2885322"/>
            <a:ext cx="5134287" cy="1965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Personalización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821275" y="3081867"/>
            <a:ext cx="5134287" cy="3930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Adapta el comportamiento según las preferencias y el historial del usuario.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65120" y="3643422"/>
            <a:ext cx="5190443" cy="196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65120" y="3839967"/>
            <a:ext cx="5190443" cy="3930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Mantiene el hilo conductor a través de múltiples sesiones y dispositivos.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7"/>
          <p:cNvSpPr/>
          <p:nvPr/>
        </p:nvSpPr>
        <p:spPr>
          <a:xfrm>
            <a:off x="765120" y="4401523"/>
            <a:ext cx="5273360" cy="196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Contextualización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765120" y="4598067"/>
            <a:ext cx="5190443" cy="3930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Provee al LLM de la información necesaria para fundamentar sus respuestas.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722808" y="2660700"/>
            <a:ext cx="8561460" cy="2246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Taxonomía de la Memoria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5746463" y="3559189"/>
            <a:ext cx="6514150" cy="1965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 a Corto Plazo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3419986" y="3755734"/>
            <a:ext cx="11167104" cy="22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Contexto inmediato de la conversación actual.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5746463" y="4770592"/>
            <a:ext cx="6514150" cy="196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 a Largo Plazo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2923670" y="4967136"/>
            <a:ext cx="12159736" cy="228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Conocimiento persistente entre sesiones y flujos.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4041776" y="6296444"/>
            <a:ext cx="2171380" cy="1403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4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EXTRACCIÓN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5346625" y="6296444"/>
            <a:ext cx="2822794" cy="1403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4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CONSOLIDACIÓN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6958247" y="6296444"/>
            <a:ext cx="2605656" cy="1403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4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RECUPERACIÓN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85" y="940823"/>
            <a:ext cx="1172308" cy="4396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885" y="1277861"/>
            <a:ext cx="11166230" cy="137196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85" y="3001520"/>
            <a:ext cx="5436577" cy="171999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346" y="3265289"/>
            <a:ext cx="432288" cy="34287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2539" y="3001520"/>
            <a:ext cx="5436576" cy="171999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265289"/>
            <a:ext cx="344366" cy="34287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885" y="5073207"/>
            <a:ext cx="11166230" cy="1143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970" y="5307669"/>
            <a:ext cx="468923" cy="46892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518" y="5424900"/>
            <a:ext cx="197827" cy="23446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0747" y="5637380"/>
            <a:ext cx="3736731" cy="1465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3460" y="5542130"/>
            <a:ext cx="1651305" cy="20515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4671" y="5307669"/>
            <a:ext cx="468923" cy="46892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5565" y="5424900"/>
            <a:ext cx="227134" cy="23446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0787" y="5637380"/>
            <a:ext cx="3736731" cy="1465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84337" y="5542130"/>
            <a:ext cx="1209515" cy="20515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25240" y="5307669"/>
            <a:ext cx="468923" cy="46892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46134" y="5424900"/>
            <a:ext cx="227135" cy="234462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12885" y="366346"/>
            <a:ext cx="32095440" cy="4572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 a Corto Plazo: El Contexto de Trabajo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1"/>
          <p:cNvSpPr/>
          <p:nvPr/>
        </p:nvSpPr>
        <p:spPr>
          <a:xfrm>
            <a:off x="805962" y="1570938"/>
            <a:ext cx="10580077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Conocida como </a:t>
            </a:r>
            <a:r>
              <a:rPr lang="en-US" sz="22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contexto de trabajo</a:t>
            </a: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rastrea la conversación actual y mantiene el contexto inmediato necesario para las interacciones en curso.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355481" y="3235982"/>
            <a:ext cx="6419088" cy="234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Automática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355481" y="3558366"/>
            <a:ext cx="4359519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</a:t>
            </a:r>
            <a:r>
              <a:rPr lang="en-US" sz="1500" b="1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Agent Service</a:t>
            </a:r>
            <a:r>
              <a:rPr lang="en-US" sz="150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gestiona esta memoria de forma transparente como parte del contexto de la sesión.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4"/>
          <p:cNvSpPr/>
          <p:nvPr/>
        </p:nvSpPr>
        <p:spPr>
          <a:xfrm>
            <a:off x="6997212" y="3235982"/>
            <a:ext cx="8915400" cy="234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Interacciones Multi-Turno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6997212" y="3558366"/>
            <a:ext cx="4447442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Asegura la coherencia al recordar los mensajes previos dentro del flujo activo, permitiendo respuestas contextualizadas.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6"/>
          <p:cNvSpPr/>
          <p:nvPr/>
        </p:nvSpPr>
        <p:spPr>
          <a:xfrm>
            <a:off x="747346" y="5835207"/>
            <a:ext cx="1456182" cy="146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Usuario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2520691" y="5542130"/>
            <a:ext cx="3731823" cy="2051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Flujo de Sesión Activa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214708" y="5835207"/>
            <a:ext cx="2704338" cy="146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 Service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7601569" y="5542130"/>
            <a:ext cx="2334046" cy="2051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 Volátil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10074748" y="5835207"/>
            <a:ext cx="3952494" cy="146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Respuesta Coherente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1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98" y="1855575"/>
            <a:ext cx="691331" cy="553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98" y="3304777"/>
            <a:ext cx="3639964" cy="21579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6587" y="3512176"/>
            <a:ext cx="456278" cy="4571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5988" y="3304777"/>
            <a:ext cx="3639964" cy="21579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9014" y="3512176"/>
            <a:ext cx="573805" cy="45714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7178" y="3304777"/>
            <a:ext cx="3639964" cy="215792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8967" y="3512176"/>
            <a:ext cx="456278" cy="45714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798" y="5633913"/>
            <a:ext cx="11362344" cy="80928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718" y="5799832"/>
            <a:ext cx="449365" cy="47745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331" y="5910445"/>
            <a:ext cx="228139" cy="22122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14798" y="414798"/>
            <a:ext cx="11362344" cy="13716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 a Largo Plazo: Persistencia del Conocimiento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14798" y="2187413"/>
            <a:ext cx="11362344" cy="785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 el </a:t>
            </a:r>
            <a:r>
              <a:rPr lang="en-US" sz="22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conocimiento persistente</a:t>
            </a:r>
            <a:r>
              <a:rPr lang="en-US" sz="22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que un agente retiene a través de múltiples sesiones, dispositivos y flujos de trabajo.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-1733774" y="4149172"/>
            <a:ext cx="7937000" cy="2212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 Histórica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22198" y="4481011"/>
            <a:ext cx="3225165" cy="7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Retención del historial de conversaciones previas para evitar redundancias y mantener el hilo conductor.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2316446" y="4149172"/>
            <a:ext cx="7559048" cy="2212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Personalización Real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483387" y="4481011"/>
            <a:ext cx="3225165" cy="7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Recordatorio de preferencias específicas del usuario, como restricciones dietéticas o estilos de trabajo.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7500415" y="4149172"/>
            <a:ext cx="4913381" cy="2212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Omnicanalidad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8344577" y="4481011"/>
            <a:ext cx="3225165" cy="7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Acceso a la misma base de conocimientos sin importar el dispositivo o el punto de acceso del usuario.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1196002" y="5844985"/>
            <a:ext cx="13858262" cy="193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Solución Gestionada en Foundry Agent Service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1196002" y="6038558"/>
            <a:ext cx="28346400" cy="1935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Abstrae la complejidad técnica de extraer, consolidar y gestionar el almacén de memoria persistente.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80" y="904833"/>
            <a:ext cx="767329" cy="319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80" y="2140752"/>
            <a:ext cx="3616336" cy="204621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937" y="2681904"/>
            <a:ext cx="431622" cy="3197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7749" y="2140752"/>
            <a:ext cx="3616336" cy="204621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4085" y="2681904"/>
            <a:ext cx="383664" cy="3197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5917" y="2140752"/>
            <a:ext cx="3616337" cy="204621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2236" y="2681904"/>
            <a:ext cx="343699" cy="3197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580" y="4570626"/>
            <a:ext cx="5456476" cy="150268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413" y="5106158"/>
            <a:ext cx="151867" cy="17135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413" y="5393906"/>
            <a:ext cx="151867" cy="171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413" y="5681654"/>
            <a:ext cx="151867" cy="171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5777" y="4570626"/>
            <a:ext cx="5456601" cy="1502686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79580" y="319720"/>
            <a:ext cx="20267676" cy="45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Fases de la Memoria: Extracción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79580" y="1192582"/>
            <a:ext cx="11232798" cy="628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extracción es la fase inicial donde el sistema </a:t>
            </a: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identifica y captura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información vital del flujo de conversación para su almacenamiento persistente.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334297" y="3129512"/>
            <a:ext cx="1906902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Entrada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-2288831" y="3417260"/>
            <a:ext cx="9153160" cy="228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Conversación activa y contexto del usuario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461429" y="3129512"/>
            <a:ext cx="3268975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Inteligencia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192376" y="3417260"/>
            <a:ext cx="9806957" cy="228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Detección de entidades, hechos y sentimientos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6"/>
          <p:cNvSpPr/>
          <p:nvPr/>
        </p:nvSpPr>
        <p:spPr>
          <a:xfrm>
            <a:off x="8950634" y="3129512"/>
            <a:ext cx="1906902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Memoria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327505" y="3417260"/>
            <a:ext cx="9153160" cy="228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Datos estructurados listos para consolidar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71413" y="4762458"/>
            <a:ext cx="5072812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¿Qué se extrae?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9"/>
          <p:cNvSpPr/>
          <p:nvPr/>
        </p:nvSpPr>
        <p:spPr>
          <a:xfrm>
            <a:off x="887224" y="5082179"/>
            <a:ext cx="9071420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Preferencias explícitas del usuario.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887224" y="5369927"/>
            <a:ext cx="8581073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Hechos concretos y datos técnicos.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887224" y="5657675"/>
            <a:ext cx="8090726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Contexto relevante de la sesión.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447609" y="4762458"/>
            <a:ext cx="5072936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Ejemplos Prácticos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6447609" y="5082179"/>
            <a:ext cx="6864858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"Soy alérgico a los lácteos"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6447609" y="5401899"/>
            <a:ext cx="8581073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"Prefiero reportes en formato JSON"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6447609" y="5625703"/>
            <a:ext cx="9806940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"Resumen de la última reunión de ventas"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35" y="1149426"/>
            <a:ext cx="801168" cy="480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35" y="1517963"/>
            <a:ext cx="3476444" cy="352714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285" y="1918548"/>
            <a:ext cx="424619" cy="38105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729" y="1517963"/>
            <a:ext cx="3476444" cy="352714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8080" y="1918548"/>
            <a:ext cx="472689" cy="38105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4524" y="1517963"/>
            <a:ext cx="3476444" cy="352714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4874" y="1918548"/>
            <a:ext cx="424619" cy="38105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35" y="5365574"/>
            <a:ext cx="10910034" cy="102925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27" y="5707698"/>
            <a:ext cx="304444" cy="30482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40935" y="480701"/>
            <a:ext cx="28047712" cy="548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Fases de la Memoria: Consolidación de Datos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881285" y="2602295"/>
            <a:ext cx="5299708" cy="3714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Fusión de Temas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2"/>
          <p:cNvSpPr/>
          <p:nvPr/>
        </p:nvSpPr>
        <p:spPr>
          <a:xfrm>
            <a:off x="881285" y="3133945"/>
            <a:ext cx="2995743" cy="12192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LLMs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identifican y fusionan automáticamente temas similares o duplicados detectados durante la extracción.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98080" y="2602295"/>
            <a:ext cx="8479533" cy="3714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Resolución de Conflictos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598080" y="3133945"/>
            <a:ext cx="2995743" cy="12192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 analizan hechos contradictorios (ej. cambio en preferencias del usuario) para mantener la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precisión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la memoria.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8314874" y="2602295"/>
            <a:ext cx="2995743" cy="7428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Optimización de Almacén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6"/>
          <p:cNvSpPr/>
          <p:nvPr/>
        </p:nvSpPr>
        <p:spPr>
          <a:xfrm>
            <a:off x="8314874" y="3505361"/>
            <a:ext cx="2995743" cy="12192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Elimina la redundancia para que el sistema de recuperación sea más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rápido y eficiente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 futuras consultas.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1305904" y="5565866"/>
            <a:ext cx="10044772" cy="6286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proceso de consolidación garantiza que el agente aprenda y evolucione sin acumular ruido informativo.</a:t>
            </a: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97" y="1158173"/>
            <a:ext cx="787371" cy="4724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97" y="1568713"/>
            <a:ext cx="7054843" cy="111425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897" y="3060904"/>
            <a:ext cx="3475996" cy="224462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08" y="3360105"/>
            <a:ext cx="307075" cy="30486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852" y="3060904"/>
            <a:ext cx="3476120" cy="224462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063" y="3360105"/>
            <a:ext cx="267706" cy="30486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5930" y="3060904"/>
            <a:ext cx="3475996" cy="224462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2141" y="3360105"/>
            <a:ext cx="377938" cy="30486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897" y="5731814"/>
            <a:ext cx="10932152" cy="73250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866" y="5972085"/>
            <a:ext cx="173222" cy="2519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59400" y="5920783"/>
            <a:ext cx="1913680" cy="354563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29897" y="393685"/>
            <a:ext cx="29866607" cy="685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Fases de la Memoria: Recuperación Inteligente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818866" y="1568713"/>
            <a:ext cx="6826243" cy="11142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fase de </a:t>
            </a: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Recuperación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es el momento en que el agente accede al conocimiento almacenado para fundamentar su respuesta actual, asegurando continuidad y relevancia.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866108" y="3872511"/>
            <a:ext cx="6083924" cy="2204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Búsqueda de Relevancia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66108" y="4187460"/>
            <a:ext cx="3003574" cy="881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sistema identifica y extrae las memorias más pertinentes del almacén persistente basándose en el prompt actual.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594063" y="3872511"/>
            <a:ext cx="4977756" cy="2204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Acceso al Contexto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594063" y="4187460"/>
            <a:ext cx="3003697" cy="881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Permite al agente recuperar rápidamente el contexto adecuado sin necesidad de re-procesar todo el historial.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322141" y="3872511"/>
            <a:ext cx="5254298" cy="2204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Interacción Natural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322141" y="4187460"/>
            <a:ext cx="3003574" cy="881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 "recordar" detalles previos, las conversaciones se sienten fluidas, informadas y personalizadas para el usuario.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118067" y="5987832"/>
            <a:ext cx="2765420" cy="2204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Resultado: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2228137" y="5987832"/>
            <a:ext cx="22399901" cy="2204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Elimina la necesidad de que el usuario repita información previamente compartida.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9585379" y="5920783"/>
            <a:ext cx="3905948" cy="354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Agent Service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99" y="908424"/>
            <a:ext cx="683749" cy="410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99" y="1701573"/>
            <a:ext cx="5384949" cy="39598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98" y="1975072"/>
            <a:ext cx="519649" cy="54988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898" y="2084472"/>
            <a:ext cx="300849" cy="27349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98" y="3372804"/>
            <a:ext cx="191450" cy="19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98" y="3919803"/>
            <a:ext cx="191450" cy="19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98" y="4466802"/>
            <a:ext cx="191450" cy="19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0147" y="1701573"/>
            <a:ext cx="5384949" cy="395986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3647" y="1975072"/>
            <a:ext cx="649562" cy="54988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3046" y="2084472"/>
            <a:ext cx="430762" cy="27349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3647" y="3372804"/>
            <a:ext cx="211962" cy="19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3647" y="3919803"/>
            <a:ext cx="211962" cy="19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3647" y="4466802"/>
            <a:ext cx="211962" cy="19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6999" y="5989639"/>
            <a:ext cx="11097990" cy="52648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132" y="6153739"/>
            <a:ext cx="191450" cy="190488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546999" y="341874"/>
            <a:ext cx="29807169" cy="457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Tipos de Memoria: Hechos y Preferencias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6999" y="1154574"/>
            <a:ext cx="26367841" cy="218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Clasificación de la información persistente en Foundry Agent Service.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449547" y="2126886"/>
            <a:ext cx="6687508" cy="246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Hechos (Facts)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820498" y="2743755"/>
            <a:ext cx="4837950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"Información objetiva y verificable sobre el usuario o el entorno."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1121348" y="3345455"/>
            <a:ext cx="4537100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Datos Biográficos:</a:t>
            </a:r>
            <a:r>
              <a:rPr lang="en-US" sz="1500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Nombres, roles y relaciones clave.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121348" y="3892453"/>
            <a:ext cx="4537100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Contexto Crítico:</a:t>
            </a:r>
            <a:r>
              <a:rPr lang="en-US" sz="1500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Alergias, restricciones legales o requisitos técnicos.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1121348" y="4439452"/>
            <a:ext cx="4537100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Historial de Eventos:</a:t>
            </a:r>
            <a:r>
              <a:rPr lang="en-US" sz="1500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Resúmenes de actividades o decisiones pasadas.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7292608" y="2126886"/>
            <a:ext cx="5732150" cy="246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Preferencias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533647" y="2743755"/>
            <a:ext cx="4837950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"Datos subjetivos que personalizan la experiencia y el tono del agente."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6855008" y="3345455"/>
            <a:ext cx="4516588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Estilo de Comunicación:</a:t>
            </a:r>
            <a:r>
              <a:rPr lang="en-US" sz="1500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Tono formal/informal, nivel de detalle.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6855008" y="3892453"/>
            <a:ext cx="4516588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Formatos Favoritos:</a:t>
            </a:r>
            <a:r>
              <a:rPr lang="en-US" sz="1500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Tablas, listas, código o lenguaje natural.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6855008" y="4439452"/>
            <a:ext cx="4516588" cy="382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Prioridades:</a:t>
            </a:r>
            <a:r>
              <a:rPr lang="en-US" sz="1500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Temas de interés recurrente o canales de entrega.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-9985851" y="6153739"/>
            <a:ext cx="32163690" cy="1982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Ambos tipos de memoria se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consolidan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automáticamente para evitar redundancias y resolver conflictos.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84" y="887249"/>
            <a:ext cx="1228757" cy="3071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84" y="1225157"/>
            <a:ext cx="11270367" cy="16056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84" y="3199448"/>
            <a:ext cx="3592914" cy="18272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5248" y="3383762"/>
            <a:ext cx="383986" cy="34282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9450" y="3199448"/>
            <a:ext cx="3592914" cy="18272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3113" y="3383762"/>
            <a:ext cx="345588" cy="34282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15" y="3199448"/>
            <a:ext cx="3593035" cy="182729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818" y="3383762"/>
            <a:ext cx="299510" cy="34282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784" y="5554246"/>
            <a:ext cx="11270367" cy="99656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3945" y="5953592"/>
            <a:ext cx="1706220" cy="41290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8258" y="6083787"/>
            <a:ext cx="153595" cy="15239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7979" y="5925753"/>
            <a:ext cx="145915" cy="2284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1709" y="5953592"/>
            <a:ext cx="3416160" cy="41290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7460" y="6083787"/>
            <a:ext cx="130555" cy="15239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60784" y="307189"/>
            <a:ext cx="25857694" cy="457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Persistencia de Estado en Flujos de IA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"/>
          <p:cNvSpPr/>
          <p:nvPr/>
        </p:nvSpPr>
        <p:spPr>
          <a:xfrm>
            <a:off x="706535" y="1470909"/>
            <a:ext cx="10778863" cy="1114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persistencia del estado es un pilar fundamental para construir flujos de trabajo de IA </a:t>
            </a: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robustos y de larga duración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Microsoft Foundry abstrae esta complejidad, permitiendo que el desarrollador se centre en la lógica del negocio.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2"/>
          <p:cNvSpPr/>
          <p:nvPr/>
        </p:nvSpPr>
        <p:spPr>
          <a:xfrm>
            <a:off x="-1428683" y="3849465"/>
            <a:ext cx="7371728" cy="2150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Abstracción de Complejidad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45097" y="4156655"/>
            <a:ext cx="3224287" cy="68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Elimina la necesidad de gestionar manualmente la infraestructura de almacenamiento y el historial de mensajes.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3544155" y="3849465"/>
            <a:ext cx="5103504" cy="2150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 Fluida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483763" y="4156655"/>
            <a:ext cx="3224287" cy="68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Asegura interacciones naturales en múltiples turnos, manteniendo el contexto operativo sin interrupciones.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7241056" y="3849465"/>
            <a:ext cx="5387032" cy="2150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Integridad de Datos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8322429" y="4156655"/>
            <a:ext cx="3224407" cy="68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Persiste llamadas a herramientas, instrucciones del agente y metadatos críticos de forma segura y auditada.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1714860" y="5738559"/>
            <a:ext cx="3572449" cy="1535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APIS TRADICIONALES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9"/>
          <p:cNvSpPr/>
          <p:nvPr/>
        </p:nvSpPr>
        <p:spPr>
          <a:xfrm>
            <a:off x="2014010" y="5953592"/>
            <a:ext cx="2656676" cy="4129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Historial Manual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8154195" y="5738559"/>
            <a:ext cx="3373979" cy="1535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MICROSOFT FOUNDRY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7660172" y="5953592"/>
            <a:ext cx="6149422" cy="4129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Estado Gestionado Automáticamente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270000"/>
            <a:ext cx="1625600" cy="3386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6637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2116667"/>
            <a:ext cx="5418667" cy="7958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333" y="2362200"/>
            <a:ext cx="338667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3048000"/>
            <a:ext cx="5418667" cy="79586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33" y="3293533"/>
            <a:ext cx="338667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000" y="3979333"/>
            <a:ext cx="5418667" cy="79586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333" y="4224867"/>
            <a:ext cx="338667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5333" y="1663700"/>
            <a:ext cx="287867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5333" y="2116667"/>
            <a:ext cx="5418666" cy="403013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6267" y="2421467"/>
            <a:ext cx="169333" cy="44026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6267" y="3098800"/>
            <a:ext cx="169333" cy="44026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6267" y="3776133"/>
            <a:ext cx="169333" cy="44026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6267" y="4555067"/>
            <a:ext cx="4876801" cy="728133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08000" y="338667"/>
            <a:ext cx="21602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Automática en Hosted Agents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08000" y="863600"/>
            <a:ext cx="16973550" cy="270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Abstracción de la complejidad para desarrolladores .NET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2"/>
          <p:cNvSpPr/>
          <p:nvPr/>
        </p:nvSpPr>
        <p:spPr>
          <a:xfrm>
            <a:off x="838200" y="1642533"/>
            <a:ext cx="11109960" cy="270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Elementos Gestionados por el Runtime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185333" y="2286000"/>
            <a:ext cx="514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Historial de Conversación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185333" y="2540000"/>
            <a:ext cx="11521440" cy="169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 fluida en interacciones de múltiples turnos.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185333" y="3217333"/>
            <a:ext cx="6995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Llamadas y Salidas de Herramientas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185333" y="3471333"/>
            <a:ext cx="12138660" cy="169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transparente de la ejecución de funciones externas.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185333" y="4148667"/>
            <a:ext cx="514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Instrucciones y Metadatos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1185333" y="4402667"/>
            <a:ext cx="11109960" cy="169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Persistencia de la configuración y contexto operativo.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9"/>
          <p:cNvSpPr/>
          <p:nvPr/>
        </p:nvSpPr>
        <p:spPr>
          <a:xfrm>
            <a:off x="6654800" y="1642533"/>
            <a:ext cx="9875520" cy="270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Experiencia de Desarrollo (.NET)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6841067" y="2387600"/>
            <a:ext cx="4572001" cy="4741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Simplificación Radical:</a:t>
            </a: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No es necesario pasar manualmente el historial en cada solicitud API.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841067" y="3064933"/>
            <a:ext cx="4572001" cy="4741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Enfoque en Lógica:</a:t>
            </a: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Los desarrolladores se centran en la lógica del negocio, no en la infraestructura de estado.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6841067" y="3742267"/>
            <a:ext cx="4572001" cy="4741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Robustez Nativa:</a:t>
            </a: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runtime de Foundry maneja reintentos y consistencia de datos automáticamente.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6671733" y="4690533"/>
            <a:ext cx="460586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"El runtime gestiona de forma transparente el estado, reduciendo significativamente la carga de desarrollo."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08000" y="6350000"/>
            <a:ext cx="11175999" cy="169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95" dirty="0">
                <a:solidFill>
                  <a:srgbClr val="6B72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MICROSOFT FOUNDRY AGENT SERVICE • HOSTED AGENTS ARCHITECTURE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8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86" y="1288161"/>
            <a:ext cx="860477" cy="5162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286" y="1770028"/>
            <a:ext cx="5407559" cy="401963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77" y="2183057"/>
            <a:ext cx="335586" cy="38089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77" y="3481704"/>
            <a:ext cx="189305" cy="1903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77" y="4199396"/>
            <a:ext cx="189305" cy="19038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477" y="4917087"/>
            <a:ext cx="189305" cy="19038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8036" y="1770028"/>
            <a:ext cx="5407558" cy="401963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2227" y="2183057"/>
            <a:ext cx="378609" cy="38089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2227" y="3481704"/>
            <a:ext cx="189305" cy="19038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227" y="4199396"/>
            <a:ext cx="189305" cy="19038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2227" y="4917087"/>
            <a:ext cx="189305" cy="19038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286" y="5789665"/>
            <a:ext cx="11159308" cy="82605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429" y="5978969"/>
            <a:ext cx="189305" cy="19038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16286" y="516286"/>
            <a:ext cx="29151054" cy="6858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Infraestructura de Persistencia: Azure Cosmos DB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860477" y="2857859"/>
            <a:ext cx="9565182" cy="4001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Estado Operativo del Agente</a:t>
            </a:r>
            <a:endParaRPr lang="en-US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206012" y="3473100"/>
            <a:ext cx="4461438" cy="50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Conversaciones de Chat: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Historial completo de interacciones para continuidad.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206012" y="4190791"/>
            <a:ext cx="4041552" cy="50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Definiciones del Agente: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Configuraciones, instrucciones y metadatos.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206012" y="4908482"/>
            <a:ext cx="4599383" cy="500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Persistencia NoSQL: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Escalabilidad y rendimiento para flujos de IA.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612227" y="2857859"/>
            <a:ext cx="8502384" cy="4001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Gobernanza y Aislamiento</a:t>
            </a:r>
            <a:endParaRPr lang="en-US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957762" y="3473100"/>
            <a:ext cx="3911002" cy="50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Suscripción del Cliente: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Los recursos se aprovisionan en el entorno del cliente.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957762" y="4190791"/>
            <a:ext cx="4122490" cy="50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Aislamiento Robusto: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Control total sobre la residencia y retención de datos.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6957762" y="4908482"/>
            <a:ext cx="4080139" cy="500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Auditabilidad: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Cumplimiento de normativas empresariales de seguridad.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066991" y="5961760"/>
            <a:ext cx="10643022" cy="4818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Importante: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evitar inconsistencias, otras aplicaciones no deben interactuar directamente con las colecciones gestionadas por el servicio.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76" y="1169894"/>
            <a:ext cx="806824" cy="484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6" y="1541033"/>
            <a:ext cx="11062434" cy="111240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776" y="2976170"/>
            <a:ext cx="5430301" cy="12907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85" y="3258559"/>
            <a:ext cx="379207" cy="30470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783" y="2976170"/>
            <a:ext cx="5430427" cy="129079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898" y="3258559"/>
            <a:ext cx="306593" cy="30470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776" y="4468668"/>
            <a:ext cx="5430301" cy="153082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892" y="4751056"/>
            <a:ext cx="306593" cy="30470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6783" y="4468668"/>
            <a:ext cx="5430427" cy="153082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898" y="4751056"/>
            <a:ext cx="306593" cy="304702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64776" y="403412"/>
            <a:ext cx="2655571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Almacenamiento Dedicado con Azure Storage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806824" y="1783080"/>
            <a:ext cx="10578338" cy="6283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runtime de </a:t>
            </a: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Agent Service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utiliza cuentas de almacenamiento dedicadas en la </a:t>
            </a:r>
            <a:r>
              <a:rPr lang="en-US" sz="1800" b="1" dirty="0">
                <a:solidFill>
                  <a:srgbClr val="FFA5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suscripción del cliente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gestionar de forma segura los archivos de las sesiones de chat.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331259" y="3177876"/>
            <a:ext cx="8420090" cy="342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Control de Acceso Granular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1331259" y="3585196"/>
            <a:ext cx="4462113" cy="480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precisa de quién puede leer o escribir archivos utilizando políticas de identidad nativas de Azure.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6963265" y="3177876"/>
            <a:ext cx="7772391" cy="342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Capacidades de Auditoría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963265" y="3585196"/>
            <a:ext cx="4462239" cy="480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Registro completo de accesos y modificaciones para cumplir con los requisitos de seguridad corporativa.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1331259" y="4670374"/>
            <a:ext cx="6153143" cy="342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Residencia de Datos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1331259" y="5077694"/>
            <a:ext cx="4462113" cy="720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Asegura que los documentos y archivos permanezcan dentro de las fronteras geográficas definidas por la organización.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963265" y="4670374"/>
            <a:ext cx="7124692" cy="342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Gobernanza y Retención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963265" y="5077694"/>
            <a:ext cx="4462239" cy="720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Aplicación de políticas de ciclo de vida de datos y retención legal directamente sobre el almacenamiento dedicado.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564776" y="6293223"/>
            <a:ext cx="24306774" cy="161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 Nota: El servicio gestiona los datos, pero la propiedad y el control de la infraestructura pertenecen íntegramente al cliente.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8" y="945243"/>
            <a:ext cx="642135" cy="385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08" y="2611482"/>
            <a:ext cx="5479517" cy="128427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91" y="2816965"/>
            <a:ext cx="359595" cy="23116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08" y="2611482"/>
            <a:ext cx="5479517" cy="128427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4192" y="2816965"/>
            <a:ext cx="288960" cy="23116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708" y="4101235"/>
            <a:ext cx="5479517" cy="128427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91" y="4306718"/>
            <a:ext cx="250433" cy="2311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8708" y="4101235"/>
            <a:ext cx="5479517" cy="128427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4192" y="4306718"/>
            <a:ext cx="288960" cy="23116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708" y="5745100"/>
            <a:ext cx="11164517" cy="66782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820" y="5976269"/>
            <a:ext cx="231169" cy="205483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13708" y="385281"/>
            <a:ext cx="29297376" cy="4572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Aislamiento y Seguridad de los Datos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13708" y="1240625"/>
            <a:ext cx="5753528" cy="11140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arquitectura de Foundry garantiza que el control de los datos permanezca siempre en manos del cliente a través de un modelo de </a:t>
            </a: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recursos delegados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81528" y="2829808"/>
            <a:ext cx="9358884" cy="205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Suscripción del Cliente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19191" y="3150875"/>
            <a:ext cx="5068551" cy="5393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Todos los recursos de persistencia (Azure Cosmos DB y Azure Storage) se aprovisionan dentro de la propia suscripción de Azure del cliente.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795894" y="2829808"/>
            <a:ext cx="9358884" cy="205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Aislamiento y Auditoría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4192" y="3150875"/>
            <a:ext cx="5068551" cy="5393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Garantiza un aislamiento robusto y permite el cumplimiento de políticas de residencia, retención y auditoría de datos empresariales.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1072365" y="4319561"/>
            <a:ext cx="6510528" cy="205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Gobernanza Total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719191" y="4640628"/>
            <a:ext cx="5068551" cy="3595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cliente mantiene el control granular del acceso y la gestión de claves sobre la infraestructura que soporta al agente.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795894" y="4319561"/>
            <a:ext cx="6917436" cy="205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Exclusiva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04192" y="4640628"/>
            <a:ext cx="5068551" cy="5393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gestiona los datos de forma exclusiva; se recomienda no interactuar externamente con estos recursos para evitar inconsistencias.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1001730" y="5899213"/>
            <a:ext cx="10522382" cy="3595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"La seguridad por diseño asegura que Foundry Agent Service actúe como orquestador sin comprometer la soberanía de los datos."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7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16" y="1302107"/>
            <a:ext cx="880359" cy="7042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16" y="2850714"/>
            <a:ext cx="2651808" cy="30441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842" y="3114822"/>
            <a:ext cx="378555" cy="38089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6095" y="2850714"/>
            <a:ext cx="2651808" cy="304411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4302" y="3114822"/>
            <a:ext cx="475394" cy="38089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3975" y="2850714"/>
            <a:ext cx="2651807" cy="304411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2611" y="3114822"/>
            <a:ext cx="334537" cy="38089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1855" y="2850714"/>
            <a:ext cx="2651808" cy="304411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8481" y="3114822"/>
            <a:ext cx="378555" cy="38089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56206" y="6158940"/>
            <a:ext cx="7079328" cy="3979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7064" y="6264583"/>
            <a:ext cx="167268" cy="17139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28216" y="528216"/>
            <a:ext cx="20182319" cy="685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Patrón Asíncrono de Larga Duración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28216" y="1724679"/>
            <a:ext cx="7923235" cy="685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Optimización de flujos que exceden los tiempos de espera HTTP estándar (30s a varios minutos), garantizando resiliencia y continuidad.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12122" y="3671787"/>
            <a:ext cx="1483995" cy="257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1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-458510" y="4016915"/>
            <a:ext cx="4625122" cy="5282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Solicitud Inicial</a:t>
            </a: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92324" y="4677185"/>
            <a:ext cx="2123592" cy="853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API devuelve inmediatamente un estado </a:t>
            </a:r>
            <a:r>
              <a:rPr lang="en-US" sz="1200" b="1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 Accepted</a:t>
            </a:r>
            <a:r>
              <a:rPr lang="en-US" sz="120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junto con un ID de tarea único.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3940002" y="3671787"/>
            <a:ext cx="1483995" cy="257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2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3620203" y="4016915"/>
            <a:ext cx="2123592" cy="6283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Procesamiento en Background</a:t>
            </a: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3620203" y="4777326"/>
            <a:ext cx="2123592" cy="853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 trabajador en segundo plano ejecuta el flujo de trabajo complejo del agente sin bloquear al cliente.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767881" y="3671787"/>
            <a:ext cx="1483995" cy="257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3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48083" y="4016915"/>
            <a:ext cx="2123592" cy="6283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Persistencia de Estado</a:t>
            </a: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448083" y="4777326"/>
            <a:ext cx="2123592" cy="6400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progreso y los resultados se guardan de forma duradera en </a:t>
            </a:r>
            <a:r>
              <a:rPr lang="en-US" sz="1200" b="1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Cosmos DB</a:t>
            </a:r>
            <a:r>
              <a:rPr lang="en-US" sz="120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9595761" y="3671787"/>
            <a:ext cx="1483995" cy="257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4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9275962" y="4016915"/>
            <a:ext cx="2123592" cy="6283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Monitoreo y Resultado</a:t>
            </a: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9275962" y="4777326"/>
            <a:ext cx="2123592" cy="853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cliente consulta periódicamente el estado mediante el ID de tarea para obtener el resultado final.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2934761" y="6158940"/>
            <a:ext cx="17041220" cy="397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Evita Timeouts y mejora la experiencia del usuario con feedback en tiempo real.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35" y="1066054"/>
            <a:ext cx="1281869" cy="4807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35" y="1434592"/>
            <a:ext cx="10910034" cy="14844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308" y="1878990"/>
            <a:ext cx="640935" cy="57133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35" y="3303567"/>
            <a:ext cx="3465679" cy="193081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2987" y="3303567"/>
            <a:ext cx="3465804" cy="193081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9361" y="3559941"/>
            <a:ext cx="288420" cy="28579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5165" y="3303567"/>
            <a:ext cx="3465678" cy="193081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1538" y="3559941"/>
            <a:ext cx="288421" cy="2857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8686" y="6020654"/>
            <a:ext cx="1822282" cy="35664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40935" y="480701"/>
            <a:ext cx="28699985" cy="457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Model Context Protocol (MCP)</a:t>
            </a:r>
            <a:endParaRPr lang="en-US" sz="3600" dirty="0"/>
          </a:p>
        </p:txBody>
      </p:sp>
      <p:sp>
        <p:nvSpPr>
          <p:cNvPr id="13" name="Text 1"/>
          <p:cNvSpPr/>
          <p:nvPr/>
        </p:nvSpPr>
        <p:spPr>
          <a:xfrm>
            <a:off x="1794617" y="1690966"/>
            <a:ext cx="15491474" cy="288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"USB-C" para las aplicaciones de IA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794617" y="2043480"/>
            <a:ext cx="9499978" cy="619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7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estándar abierto diseñado para 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las integraciones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modelos de IA, herramientas y fuentes de datos externas.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897308" y="3976548"/>
            <a:ext cx="4892045" cy="2243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Universal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897308" y="4297016"/>
            <a:ext cx="2952931" cy="672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necesidad de integraciones personalizadas para cada herramienta o periférico.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4619361" y="3984560"/>
            <a:ext cx="5979166" cy="2243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Extendidas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4619361" y="4305027"/>
            <a:ext cx="2953056" cy="672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los modelos invocar funciones externas y acceder a APIs de terceros de forma nativa.</a:t>
            </a:r>
            <a:endParaRPr lang="en-US" sz="1350" dirty="0"/>
          </a:p>
        </p:txBody>
      </p:sp>
      <p:sp>
        <p:nvSpPr>
          <p:cNvPr id="19" name="Text 7"/>
          <p:cNvSpPr/>
          <p:nvPr/>
        </p:nvSpPr>
        <p:spPr>
          <a:xfrm>
            <a:off x="8341538" y="3984560"/>
            <a:ext cx="5707385" cy="2243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 Contextual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8341538" y="4305027"/>
            <a:ext cx="2952931" cy="672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Suministra datos de negocio en tiempo real para generar respuestas precisas y relevantes.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640935" y="6152972"/>
            <a:ext cx="13208508" cy="2243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66"/>
              </a:lnSpc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Facilitando la interoperabilidad en el ecosistema .NET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9856873" y="6020654"/>
            <a:ext cx="2896910" cy="3566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ABIERTO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41" y="1352442"/>
            <a:ext cx="767329" cy="319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41" y="1704134"/>
            <a:ext cx="3467217" cy="22432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9297" y="1943924"/>
            <a:ext cx="567503" cy="457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2433" y="1704134"/>
            <a:ext cx="3467217" cy="224328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192" y="1943924"/>
            <a:ext cx="343699" cy="457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5426" y="1704134"/>
            <a:ext cx="3467216" cy="224328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1234" y="1943924"/>
            <a:ext cx="455602" cy="457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441" y="4331086"/>
            <a:ext cx="10913078" cy="135656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217" y="4618834"/>
            <a:ext cx="231797" cy="2285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39441" y="479580"/>
            <a:ext cx="19613880" cy="45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Arquitectura del Protocolo MCP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39441" y="1000749"/>
            <a:ext cx="16072463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"USB-C" para las aplicaciones de Inteligencia Artificial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065394" y="2616961"/>
            <a:ext cx="2615184" cy="25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MCP Host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879231" y="3000625"/>
            <a:ext cx="2987636" cy="7070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Aplicaciones de IA (como GitHub Copilot) que mejoran sus modelos utilizando recursos contextuales.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461552" y="2616961"/>
            <a:ext cx="3268980" cy="25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MCP Client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602224" y="3000625"/>
            <a:ext cx="2987636" cy="7070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Componentes utilizados por la aplicación Host para conectarse a los servidores y recuperar datos.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6"/>
          <p:cNvSpPr/>
          <p:nvPr/>
        </p:nvSpPr>
        <p:spPr>
          <a:xfrm>
            <a:off x="8184482" y="2616961"/>
            <a:ext cx="3268980" cy="25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MCP Server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8325217" y="3000625"/>
            <a:ext cx="2987636" cy="7070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Servicios que exponen capacidades, APIs o fuentes de datos locales de forma estandarizada.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254902" y="4586862"/>
            <a:ext cx="10041839" cy="2238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Estandarización de Integración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9"/>
          <p:cNvSpPr/>
          <p:nvPr/>
        </p:nvSpPr>
        <p:spPr>
          <a:xfrm>
            <a:off x="1254902" y="4874610"/>
            <a:ext cx="10041839" cy="557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 arquitectura cliente-servidor permite una interacción fluida y estandarizada, eliminando la necesidad de integraciones personalizadas para cada fuente de datos o herramienta externa que el agente de IA requiera consumir.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78" y="960711"/>
            <a:ext cx="732334" cy="3051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78" y="2605482"/>
            <a:ext cx="3494319" cy="27419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32" y="2834336"/>
            <a:ext cx="259368" cy="34280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708" y="2605482"/>
            <a:ext cx="3494438" cy="274196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7562" y="2834336"/>
            <a:ext cx="389052" cy="34280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7257" y="2605482"/>
            <a:ext cx="3494319" cy="274196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6112" y="2834336"/>
            <a:ext cx="343281" cy="34280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278" y="5713609"/>
            <a:ext cx="10971418" cy="793361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10278" y="381424"/>
            <a:ext cx="17810978" cy="4572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Mensajería Estándar en MCP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10278" y="1296364"/>
            <a:ext cx="6835115" cy="9429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Model Context Protocol (MCP) estandariza la comunicación para que las aplicaciones de IA interactúen con fuentes externas mediante un conjunto de mensajes definidos.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839132" y="3360225"/>
            <a:ext cx="6850388" cy="24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Recursos (Resources)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39132" y="3726391"/>
            <a:ext cx="3036610" cy="13921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Permite a los servidores exponer datos de solo lectura, como archivos locales, registros de bases de datos o documentación técnica, directamente al modelo.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7562" y="3360225"/>
            <a:ext cx="3036729" cy="24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Prompts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4577562" y="3726391"/>
            <a:ext cx="3036729" cy="11137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Plantillas reutilizables que guían al modelo sobre cómo procesar la información, facilitando flujos de trabajo consistentes y especializados.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8316112" y="3360225"/>
            <a:ext cx="6850388" cy="24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Herramientas (Tools)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8316112" y="3726391"/>
            <a:ext cx="3036609" cy="11137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Funciones ejecutables que el agente puede invocar para realizar acciones en el mundo real, como llamar a APIs externas o ejecutar scripts.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793361" y="6003491"/>
            <a:ext cx="5137780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A5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INTEROPERABILIDAD: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3000137" y="5896692"/>
            <a:ext cx="8398475" cy="427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Este intercambio estandarizado actúa como el </a:t>
            </a: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"USB-C para la IA"</a:t>
            </a: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permitiendo que cualquier host se conecte a cualquier servidor MCP sin integraciones personalizadas.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34" y="1098964"/>
            <a:ext cx="11336507" cy="37137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34" y="1755491"/>
            <a:ext cx="11336507" cy="13317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01" y="2174871"/>
            <a:ext cx="377832" cy="380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734" y="3315383"/>
            <a:ext cx="3664699" cy="218968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1" y="3621926"/>
            <a:ext cx="377832" cy="38095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3527" y="3315383"/>
            <a:ext cx="3664810" cy="218968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7394" y="3621926"/>
            <a:ext cx="335058" cy="38095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7394" y="4499894"/>
            <a:ext cx="149707" cy="17142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7394" y="4728019"/>
            <a:ext cx="149707" cy="17142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7394" y="4956143"/>
            <a:ext cx="149707" cy="17142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9431" y="3315383"/>
            <a:ext cx="3664811" cy="218968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3298" y="3621926"/>
            <a:ext cx="377832" cy="38095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5280" y="5847256"/>
            <a:ext cx="8761416" cy="41347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3502" y="5961318"/>
            <a:ext cx="142578" cy="190476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27734" y="427734"/>
            <a:ext cx="33353522" cy="599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Optimización de Respuestas: Grounding con Foundry IQ</a:t>
            </a:r>
            <a:endParaRPr lang="en-US" sz="3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70312" y="1098964"/>
            <a:ext cx="27717924" cy="3713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Conectando Agentes al Conocimiento Empresarial mediante Azure AI Search</a:t>
            </a:r>
            <a:endParaRPr lang="en-US" sz="19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2"/>
          <p:cNvSpPr/>
          <p:nvPr/>
        </p:nvSpPr>
        <p:spPr>
          <a:xfrm>
            <a:off x="1247557" y="1969358"/>
            <a:ext cx="13194806" cy="22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 de Conocimiento Centralizado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247557" y="2254514"/>
            <a:ext cx="10302816" cy="6188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Foundry IQ actúa como el núcleo de información, eliminando la necesidad de gestionar múltiples fuentes de datos de forma individual. Permite una conexión unificada a toda la base de conocimiento corporativa.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41601" y="4207609"/>
            <a:ext cx="6414130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Recuperación Agéntica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641601" y="4492765"/>
            <a:ext cx="3236965" cy="5988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Búsqueda inteligente que entiende el contexto del agente para extraer solo la información más relevante.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4477394" y="4207609"/>
            <a:ext cx="5497825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Fuentes Conectadas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4684132" y="4492765"/>
            <a:ext cx="3237077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SharePoint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4684132" y="4720890"/>
            <a:ext cx="4123373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Fabric OneLake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684132" y="4949015"/>
            <a:ext cx="4398264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Web Corporativa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8313298" y="4207609"/>
            <a:ext cx="5497825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Impacto en Calidad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8313298" y="4492765"/>
            <a:ext cx="3237076" cy="798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Respuestas fundamentadas (grounded) con contexto profundo, reduciendo alucinaciones y aumentando la precisión.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-6706331" y="5847256"/>
            <a:ext cx="25128387" cy="4134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Impulsado por Azure AI Search para una escalabilidad y seguridad de nivel empresarial.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6103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5842248" cy="685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28850"/>
            <a:ext cx="3479750" cy="2590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01" y="253365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9851" y="272415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050" y="2228850"/>
            <a:ext cx="3479750" cy="2590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4851" y="253365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7264" y="2724150"/>
            <a:ext cx="25717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0601" y="2228850"/>
            <a:ext cx="3479899" cy="2590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99550" y="253365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8150" y="272415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276850"/>
            <a:ext cx="11049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3586" y="550545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22378" y="5505450"/>
            <a:ext cx="952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39023" y="55054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7688" y="5505450"/>
            <a:ext cx="952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14333" y="5505450"/>
            <a:ext cx="200025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5715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Orquestación Multi-Agente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71500" y="1543050"/>
            <a:ext cx="21396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Sustitución de sistemas monolíticos por ecosistemas de agentes especializados.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-20419" y="3524250"/>
            <a:ext cx="46634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 de Datos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876300" y="3981450"/>
            <a:ext cx="2870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Procesamiento profundo y extracción de insights técnicos.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4861411" y="3524250"/>
            <a:ext cx="2468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Redacción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4660850" y="3981450"/>
            <a:ext cx="2870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Generación de informes y documentación estructurada.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371716" y="3524250"/>
            <a:ext cx="3017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Interacción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8445401" y="3981450"/>
            <a:ext cx="28702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de la comunicación directa con el usuario final.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8"/>
          <p:cNvSpPr/>
          <p:nvPr/>
        </p:nvSpPr>
        <p:spPr>
          <a:xfrm>
            <a:off x="1713161" y="55245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Mayor Calidad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5420023" y="5524500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 Precisión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9066758" y="55245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Eficiencia Operativa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68" y="886736"/>
            <a:ext cx="1227383" cy="460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68" y="2350486"/>
            <a:ext cx="3593450" cy="15308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393" y="2534593"/>
            <a:ext cx="345201" cy="30684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9195" y="2350486"/>
            <a:ext cx="3593450" cy="15308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6333" y="2534593"/>
            <a:ext cx="299174" cy="30684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22" y="2350486"/>
            <a:ext cx="3593570" cy="153087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4438" y="2534593"/>
            <a:ext cx="260819" cy="3068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268" y="4249572"/>
            <a:ext cx="5248379" cy="151720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745" y="4495049"/>
            <a:ext cx="337530" cy="41256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799" y="4610116"/>
            <a:ext cx="153423" cy="15234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4124" y="4870096"/>
            <a:ext cx="283832" cy="27616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3433" y="4249572"/>
            <a:ext cx="5248379" cy="151720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28909" y="4495049"/>
            <a:ext cx="337531" cy="41256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20963" y="4610116"/>
            <a:ext cx="153423" cy="15234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268" y="6029517"/>
            <a:ext cx="11271424" cy="52163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24846" y="6214104"/>
            <a:ext cx="153423" cy="152344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60268" y="306846"/>
            <a:ext cx="25886664" cy="4571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Selección Inteligente con Model Router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60268" y="1239608"/>
            <a:ext cx="11271424" cy="742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</a:t>
            </a: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 Router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actúa como una capa de orquestación de IA que selecciona automáticamente el LLM más adecuado para cada prompt en tiempo real.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95788" y="2964177"/>
            <a:ext cx="3122291" cy="21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Complejidad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44376" y="3240338"/>
            <a:ext cx="3225235" cy="456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Evalúa la dificultad del prompt para asignar el nivel de razonamiento necesario.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4534715" y="2964177"/>
            <a:ext cx="3122291" cy="21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Rendimiento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4483303" y="3240338"/>
            <a:ext cx="3225235" cy="456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Considera los requisitos de velocidad y latencia para la respuesta.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9225235" y="2964177"/>
            <a:ext cx="1419223" cy="21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Costo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8322229" y="3240338"/>
            <a:ext cx="3225355" cy="456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 el gasto seleccionando el modelo más eficiente para la tarea.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8"/>
          <p:cNvSpPr/>
          <p:nvPr/>
        </p:nvSpPr>
        <p:spPr>
          <a:xfrm>
            <a:off x="1166013" y="4593935"/>
            <a:ext cx="8231494" cy="21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Modelos Pequeños y Económicos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705745" y="5091720"/>
            <a:ext cx="4757426" cy="429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Ideales para tareas simples, extracciones de datos básicas o prompts con baja ambigüedad.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7189177" y="4593935"/>
            <a:ext cx="6812271" cy="21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Modelos de Alta Potencia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6728909" y="5091720"/>
            <a:ext cx="4757426" cy="429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Reservados para consultas complejas, razonamiento avanzado o síntesis de información densa.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613691" y="6182939"/>
            <a:ext cx="16604932" cy="21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Optimización automática sin intervención manual del desarrollador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52550"/>
            <a:ext cx="11430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90700"/>
            <a:ext cx="53721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01930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790700"/>
            <a:ext cx="537210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0193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71900"/>
            <a:ext cx="5372100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0005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771900"/>
            <a:ext cx="537210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00050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753100"/>
            <a:ext cx="110490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6124575"/>
            <a:ext cx="36195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0650" y="633412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0" y="6334125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5500" y="6334125"/>
            <a:ext cx="133350" cy="1714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6459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Eficiente de Schedules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"/>
          <p:cNvSpPr/>
          <p:nvPr/>
        </p:nvSpPr>
        <p:spPr>
          <a:xfrm>
            <a:off x="1152525" y="2019300"/>
            <a:ext cx="49377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Eventos vs. Tiempo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2"/>
          <p:cNvSpPr/>
          <p:nvPr/>
        </p:nvSpPr>
        <p:spPr>
          <a:xfrm>
            <a:off x="800100" y="2438400"/>
            <a:ext cx="4914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Priorice disparadores basados en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cambios de datos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 lugar de intervalos fijos para reducir ejecuciones innecesarias.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829425" y="20193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Ajuste de Frecuencia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477000" y="2438400"/>
            <a:ext cx="4914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Alinee el schedule con el uso real. Desactivar ejecuciones en fines de semana puede ahorrar hasta un </a:t>
            </a:r>
            <a:r>
              <a:rPr lang="en-US" sz="1500" b="1" dirty="0">
                <a:solidFill>
                  <a:srgbClr val="006400"/>
                </a:solidFill>
                <a:highlight>
                  <a:srgbClr val="90EE9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30% de cómputo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209675" y="4000500"/>
            <a:ext cx="5212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Eliminar Duplicados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800100" y="4419600"/>
            <a:ext cx="4914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Utilice </a:t>
            </a:r>
            <a:r>
              <a:rPr lang="en-US" sz="15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Lineage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identificar y consolidar schedules redundantes, evitando colas y ralentizaciones.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6886575" y="4000500"/>
            <a:ext cx="6309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Pipelines Incrementales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477000" y="4419600"/>
            <a:ext cx="4914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Prefiera transacciones </a:t>
            </a:r>
            <a:r>
              <a:rPr lang="en-US" sz="1500" b="1" dirty="0">
                <a:solidFill>
                  <a:srgbClr val="FFA5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APPEND</a:t>
            </a:r>
            <a:r>
              <a:rPr lang="en-US" sz="15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sobre SNAPSHOT para sincronizar solo datos nuevos y ahorrar recursos.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390650" y="5981700"/>
            <a:ext cx="7191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Configuración Avanzada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638300" y="6286500"/>
            <a:ext cx="3291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Abortar en fallo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3448050" y="6286500"/>
            <a:ext cx="5897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Límite de reintentos (ej. 3)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6115050" y="6286500"/>
            <a:ext cx="5760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Tiempo de espera estratégico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1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46" y="1198160"/>
            <a:ext cx="878292" cy="4391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46" y="1534839"/>
            <a:ext cx="5510370" cy="42769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19" y="1754412"/>
            <a:ext cx="263488" cy="3999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19" y="2366701"/>
            <a:ext cx="190297" cy="19041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19" y="3425798"/>
            <a:ext cx="190297" cy="1904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19" y="4484895"/>
            <a:ext cx="190297" cy="19041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2281" y="1534839"/>
            <a:ext cx="5510485" cy="427698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1854" y="1754412"/>
            <a:ext cx="336679" cy="39992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1854" y="2337424"/>
            <a:ext cx="5071339" cy="32798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1640" y="2425254"/>
            <a:ext cx="131744" cy="15232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1854" y="2753241"/>
            <a:ext cx="5071339" cy="32798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1640" y="2841070"/>
            <a:ext cx="190297" cy="15232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1854" y="3169058"/>
            <a:ext cx="5071339" cy="32798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1640" y="3256887"/>
            <a:ext cx="146382" cy="15232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1854" y="3672703"/>
            <a:ext cx="5071339" cy="5269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39146" y="439146"/>
            <a:ext cx="20705837" cy="6858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Conclusiones y Próximos Pasos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031994" y="1754412"/>
            <a:ext cx="9579422" cy="400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Ventajas de la Solución</a:t>
            </a:r>
            <a:endParaRPr lang="en-US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58719" y="2587989"/>
            <a:ext cx="6425946" cy="2049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Robustez y Escalabilidad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658719" y="2792924"/>
            <a:ext cx="5071224" cy="4572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 nativa de .NET con Foundry para soluciones de nivel empresarial.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658719" y="3647087"/>
            <a:ext cx="5890451" cy="2049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Seguridad y Gobernanza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658719" y="3852022"/>
            <a:ext cx="5071224" cy="4572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Aislamiento total de datos en la suscripción del cliente con Azure Cosmos DB.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658719" y="4706184"/>
            <a:ext cx="6158198" cy="2049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Inteligencia Contextual</a:t>
            </a: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58719" y="4911119"/>
            <a:ext cx="5071224" cy="4572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Gestión avanzada de memoria y grounding con Foundry IQ para respuestas precisas.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908319" y="1754412"/>
            <a:ext cx="8329933" cy="4000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Recursos Adicionales</a:t>
            </a:r>
            <a:endParaRPr lang="en-US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6791213" y="2428227"/>
            <a:ext cx="9579396" cy="1463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Documentación Oficial de Foundry Agent Service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6849766" y="2844044"/>
            <a:ext cx="9371148" cy="1463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SDK de Model Context Protocol (MCP) para .NET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6805851" y="3259860"/>
            <a:ext cx="10620635" cy="1463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Repositorios de Ejemplos en GitHub y Blogs Técnicos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6578959" y="3789809"/>
            <a:ext cx="4837127" cy="2927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"Comience hoy mismo a construir el futuro de la IA empresarial con el ecosistema de Microsoft."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-4375973" y="6104590"/>
            <a:ext cx="20943857" cy="314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64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¿Listo para empezar? Visite learn.microsoft.com/azure/ai-foundry</a:t>
            </a: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2843</Words>
  <Application>Microsoft Office PowerPoint</Application>
  <PresentationFormat>Panorámica</PresentationFormat>
  <Paragraphs>336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Edwin Barrientos</cp:lastModifiedBy>
  <cp:revision>2</cp:revision>
  <dcterms:created xsi:type="dcterms:W3CDTF">2026-02-18T06:31:13Z</dcterms:created>
  <dcterms:modified xsi:type="dcterms:W3CDTF">2026-03-01T19:06:55Z</dcterms:modified>
</cp:coreProperties>
</file>